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828800"/>
            <a:ext cx="6400800" cy="6400800"/>
          </a:xfrm>
          <a:prstGeom prst="ellipse">
            <a:avLst/>
          </a:prstGeom>
          <a:solidFill>
            <a:srgbClr val="2A211C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234440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C45C3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2344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TÉCNICO · KATA E1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E-Commerce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71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45C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descuentos acumulativos — sustentación técnica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480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github.com/pipeelyo/examen-ecommerce · GKE en producción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· 15 MIN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713232"/>
          </a:xfrm>
          <a:prstGeom prst="roundRect">
            <a:avLst>
              <a:gd name="adj" fmla="val 11538"/>
            </a:avLst>
          </a:prstGeom>
          <a:solidFill>
            <a:srgbClr val="FFF8EE"/>
          </a:solidFill>
          <a:ln/>
          <a:effectLst>
            <a:outerShdw sx="100000" sy="100000" kx="0" ky="0" algn="bl" rotWithShape="0" blurRad="127000" dist="38100" dir="5400000">
              <a:srgbClr val="1C141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5C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1920240"/>
            <a:ext cx="9144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exige el enunciado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08792" cy="713232"/>
          </a:xfrm>
          <a:prstGeom prst="roundRect">
            <a:avLst>
              <a:gd name="adj" fmla="val 11538"/>
            </a:avLst>
          </a:prstGeom>
          <a:solidFill>
            <a:srgbClr val="FFF8EE"/>
          </a:solidFill>
          <a:ln/>
          <a:effectLst>
            <a:outerShdw sx="100000" sy="100000" kx="0" ky="0" algn="bl" rotWithShape="0" blurRad="127000" dist="38100" dir="5400000">
              <a:srgbClr val="1C141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68680" y="283464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5C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2743200"/>
            <a:ext cx="9144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Motor y checkout: idempotencia, microservicios vs monolito, Saga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566160"/>
            <a:ext cx="10908792" cy="713232"/>
          </a:xfrm>
          <a:prstGeom prst="roundRect">
            <a:avLst>
              <a:gd name="adj" fmla="val 11538"/>
            </a:avLst>
          </a:prstGeom>
          <a:solidFill>
            <a:srgbClr val="FFF8EE"/>
          </a:solidFill>
          <a:ln/>
          <a:effectLst>
            <a:outerShdw sx="100000" sy="100000" kx="0" ky="0" algn="bl" rotWithShape="0" blurRad="127000" dist="38100" dir="5400000">
              <a:srgbClr val="1C141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68680" y="365760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5C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737360" y="3566160"/>
            <a:ext cx="9144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Stack: React vs Angular, NestJS, y cómo escalar con más carga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389120"/>
            <a:ext cx="10908792" cy="713232"/>
          </a:xfrm>
          <a:prstGeom prst="roundRect">
            <a:avLst>
              <a:gd name="adj" fmla="val 11538"/>
            </a:avLst>
          </a:prstGeom>
          <a:solidFill>
            <a:srgbClr val="FFF8EE"/>
          </a:solidFill>
          <a:ln/>
          <a:effectLst>
            <a:outerShdw sx="100000" sy="100000" kx="0" ky="0" algn="bl" rotWithShape="0" blurRad="127000" dist="38100" dir="5400000">
              <a:srgbClr val="1C141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448056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5C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737360" y="4389120"/>
            <a:ext cx="9144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Infra: GKE, Outbox+Redis, CI/CD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5212080"/>
            <a:ext cx="10908792" cy="713232"/>
          </a:xfrm>
          <a:prstGeom prst="roundRect">
            <a:avLst>
              <a:gd name="adj" fmla="val 11538"/>
            </a:avLst>
          </a:prstGeom>
          <a:solidFill>
            <a:srgbClr val="FFF8EE"/>
          </a:solidFill>
          <a:ln/>
          <a:effectLst>
            <a:outerShdw sx="100000" sy="100000" kx="0" ky="0" algn="bl" rotWithShape="0" blurRad="127000" dist="38100" dir="5400000">
              <a:srgbClr val="1C141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68680" y="530352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5C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5212080"/>
            <a:ext cx="9144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Calidad y cierre: testing, patrones, estado real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D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exige el enunciado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606040" cy="2148840"/>
          </a:xfrm>
          <a:prstGeom prst="roundRect">
            <a:avLst>
              <a:gd name="adj" fmla="val 3830"/>
            </a:avLst>
          </a:prstGeom>
          <a:solidFill>
            <a:srgbClr val="FFF8EE"/>
          </a:solidFill>
          <a:ln/>
          <a:effectLst>
            <a:outerShdw sx="100000" sy="100000" kx="0" ky="0" algn="bl" rotWithShape="0" blurRad="127000" dist="38100" dir="5400000">
              <a:srgbClr val="1C141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45C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880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EN CASCADA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3200400"/>
            <a:ext cx="2203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D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 (10%) → Volumen (5%) → Cupón — nunca se suman entre sí.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01568" y="1874520"/>
            <a:ext cx="2606040" cy="2148840"/>
          </a:xfrm>
          <a:prstGeom prst="roundRect">
            <a:avLst>
              <a:gd name="adj" fmla="val 3830"/>
            </a:avLst>
          </a:prstGeom>
          <a:solidFill>
            <a:srgbClr val="FFF8EE"/>
          </a:solidFill>
          <a:ln/>
          <a:effectLst>
            <a:outerShdw sx="100000" sy="100000" kx="0" ky="0" algn="bl" rotWithShape="0" blurRad="127000" dist="38100" dir="5400000">
              <a:srgbClr val="1C141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38728" y="20574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45C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538728" y="2880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TOPE ABSOLUTO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602736" y="3200400"/>
            <a:ext cx="2203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D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el subtotal original, aplicado al final del pipeline.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63056" y="1874520"/>
            <a:ext cx="2606040" cy="2148840"/>
          </a:xfrm>
          <a:prstGeom prst="roundRect">
            <a:avLst>
              <a:gd name="adj" fmla="val 3830"/>
            </a:avLst>
          </a:prstGeom>
          <a:solidFill>
            <a:srgbClr val="FFF8EE"/>
          </a:solidFill>
          <a:ln/>
          <a:effectLst>
            <a:outerShdw sx="100000" sy="100000" kx="0" ky="0" algn="bl" rotWithShape="0" blurRad="127000" dist="38100" dir="5400000">
              <a:srgbClr val="1C141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300216" y="20574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45C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300216" y="2880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 OBLIGATORIAS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364224" y="3200400"/>
            <a:ext cx="2203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D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Catálogo, preview, checkout invitado, cupones, inventario, auditoría.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924544" y="1874520"/>
            <a:ext cx="2606040" cy="2148840"/>
          </a:xfrm>
          <a:prstGeom prst="roundRect">
            <a:avLst>
              <a:gd name="adj" fmla="val 3830"/>
            </a:avLst>
          </a:prstGeom>
          <a:solidFill>
            <a:srgbClr val="FFF8EE"/>
          </a:solidFill>
          <a:ln/>
          <a:effectLst>
            <a:outerShdw sx="100000" sy="100000" kx="0" ky="0" algn="bl" rotWithShape="0" blurRad="127000" dist="38100" dir="5400000">
              <a:srgbClr val="1C141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061704" y="20574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45C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≥80%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9061704" y="2880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EXIGIDA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9125712" y="3200400"/>
            <a:ext cx="2203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D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descuentos y estado crítico del carrito, sin excepción.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" y="4251960"/>
            <a:ext cx="10908792" cy="1965960"/>
          </a:xfrm>
          <a:prstGeom prst="roundRect">
            <a:avLst>
              <a:gd name="adj" fmla="val 4651"/>
            </a:avLst>
          </a:prstGeom>
          <a:solidFill>
            <a:srgbClr val="F3E6D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96112" y="4416552"/>
            <a:ext cx="10396728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spc="100" kern="0" dirty="0">
                <a:solidFill>
                  <a:srgbClr val="9A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/ DECISIÓN
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enunciado pide un motor de descuentos acumulativos con integración real: catálogo, cupones, checkout de invitado, panel admin y bitácora de auditoría. La evaluación es de criterio de ingeniería, no de cantidad de código — por eso el proyecto se diseñó en dos niveles: MVP (lo que corre hoy en producción real) y Enterprise (piezas documentadas, con interfaces listas, cuya infraestructura pesada no se levanta para esta entrega).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D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DISEÑO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idempotencia — y solo ahí?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2926080"/>
          </a:xfrm>
          <a:prstGeom prst="roundRect">
            <a:avLst>
              <a:gd name="adj" fmla="val 2813"/>
            </a:avLst>
          </a:prstGeom>
          <a:solidFill>
            <a:srgbClr val="E7F3EC"/>
          </a:solidFill>
          <a:ln/>
          <a:effectLst>
            <a:outerShdw sx="100000" sy="100000" kx="0" ky="0" algn="bl" rotWithShape="0" blurRad="127000" dist="38100" dir="5400000">
              <a:srgbClr val="1C141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93392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1F6B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19933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— idempotente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51460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carrito + mismo cupón → mismo resultado, siempre (cómputo puro)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persistencia, sin reserva de stock: no hay nada que duplicar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 llamarlo en cada tecleo — el front lo hace en cada cambio del carrito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/coupons/available es del mismo tipo: solo lectura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257800" cy="2926080"/>
          </a:xfrm>
          <a:prstGeom prst="roundRect">
            <a:avLst>
              <a:gd name="adj" fmla="val 2813"/>
            </a:avLst>
          </a:prstGeom>
          <a:solidFill>
            <a:srgbClr val="F7E9E9"/>
          </a:solidFill>
          <a:ln/>
          <a:effectLst>
            <a:outerShdw sx="100000" sy="100000" kx="0" ky="0" algn="bl" rotWithShape="0" blurRad="127000" dist="38100" dir="5400000">
              <a:srgbClr val="1C141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19672" y="1993392"/>
            <a:ext cx="2926080" cy="365760"/>
          </a:xfrm>
          <a:prstGeom prst="roundRect">
            <a:avLst>
              <a:gd name="adj" fmla="val 50000"/>
            </a:avLst>
          </a:prstGeom>
          <a:solidFill>
            <a:srgbClr val="9B2C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19672" y="19933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— tiene efectos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556248" y="251460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Reservar stock y persistir la orden SÍ cambian el sistema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reintento ciego podría reservar dos veces o duplicar el pedido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eso: Saga con compensación explícita (releaseStock), no "reintentar y ver qué pasa"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201 se devuelve solo tras el commit — nunca antes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892040"/>
            <a:ext cx="10908792" cy="1508760"/>
          </a:xfrm>
          <a:prstGeom prst="roundRect">
            <a:avLst>
              <a:gd name="adj" fmla="val 6061"/>
            </a:avLst>
          </a:prstGeom>
          <a:solidFill>
            <a:srgbClr val="F3E6D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6112" y="5056632"/>
            <a:ext cx="1039672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spc="100" kern="0" dirty="0">
                <a:solidFill>
                  <a:srgbClr val="9A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/ DECISIÓN
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"todo idempotente": es una decisión puntual. Se usa donde el costo de repetir la operación es cero (preview, lecturas) y se evita exactamente donde no lo es (checkout). Ahí, en vez de idempotencia, la respuesta es orquestación con compensación — el patrón Saga.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D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Idempotencia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más carga, ¿qué mejoramos primero?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08792" cy="786384"/>
          </a:xfrm>
          <a:prstGeom prst="roundRect">
            <a:avLst>
              <a:gd name="adj" fmla="val 10465"/>
            </a:avLst>
          </a:prstGeom>
          <a:solidFill>
            <a:srgbClr val="FFF8EE"/>
          </a:solidFill>
          <a:ln/>
          <a:effectLst>
            <a:outerShdw sx="100000" sy="100000" kx="0" ky="0" algn="bl" rotWithShape="0" blurRad="127000" dist="38100" dir="5400000">
              <a:srgbClr val="1C141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8562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45C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85623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HPA en api-gateway y discount-service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355080" y="1856232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D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estado, CPU-bound — escalan horizontalmente sin coordinación.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10908792" cy="786384"/>
          </a:xfrm>
          <a:prstGeom prst="roundRect">
            <a:avLst>
              <a:gd name="adj" fmla="val 10465"/>
            </a:avLst>
          </a:prstGeom>
          <a:solidFill>
            <a:srgbClr val="FFF8EE"/>
          </a:solidFill>
          <a:ln/>
          <a:effectLst>
            <a:outerShdw sx="100000" sy="100000" kx="0" ky="0" algn="bl" rotWithShape="0" blurRad="127000" dist="38100" dir="5400000">
              <a:srgbClr val="1C141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68680" y="27249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45C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72491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Pooler dedicado (PgBouncer) frente a Supabase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724912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D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6 schemas comparten el mismo pool de conexiones.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520440"/>
            <a:ext cx="10908792" cy="786384"/>
          </a:xfrm>
          <a:prstGeom prst="roundRect">
            <a:avLst>
              <a:gd name="adj" fmla="val 10465"/>
            </a:avLst>
          </a:prstGeom>
          <a:solidFill>
            <a:srgbClr val="FFF8EE"/>
          </a:solidFill>
          <a:ln/>
          <a:effectLst>
            <a:outerShdw sx="100000" sy="100000" kx="0" ky="0" algn="bl" rotWithShape="0" blurRad="127000" dist="38100" dir="5400000">
              <a:srgbClr val="1C141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68680" y="35935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45C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59359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Cache de catálogo (Redis) para GET /products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3593592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D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cada carga del catálogo pega directo a Postgres.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4389120"/>
            <a:ext cx="10908792" cy="786384"/>
          </a:xfrm>
          <a:prstGeom prst="roundRect">
            <a:avLst>
              <a:gd name="adj" fmla="val 10465"/>
            </a:avLst>
          </a:prstGeom>
          <a:solidFill>
            <a:srgbClr val="FFF8EE"/>
          </a:solidFill>
          <a:ln/>
          <a:effectLst>
            <a:outerShdw sx="100000" sy="100000" kx="0" ky="0" algn="bl" rotWithShape="0" blurRad="127000" dist="38100" dir="5400000">
              <a:srgbClr val="1C141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68680" y="44622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45C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46227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 Pub/Sub → broker durable (RabbitMQ)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4462272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D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volumen de notificaciones crece, at-most-once deja de alcanzar.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5257800"/>
            <a:ext cx="10908792" cy="786384"/>
          </a:xfrm>
          <a:prstGeom prst="roundRect">
            <a:avLst>
              <a:gd name="adj" fmla="val 10465"/>
            </a:avLst>
          </a:prstGeom>
          <a:solidFill>
            <a:srgbClr val="FFF8EE"/>
          </a:solidFill>
          <a:ln/>
          <a:effectLst>
            <a:outerShdw sx="100000" sy="100000" kx="0" ky="0" algn="bl" rotWithShape="0" blurRad="127000" dist="38100" dir="5400000">
              <a:srgbClr val="1C141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68680" y="53309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45C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533095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CDN + code-splitting del frontend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5330952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D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único de ~630KB hoy, sin lazy loading por ruta.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D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DE ARQUITECTURA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microservicios y no un monolito?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4160520"/>
          </a:xfrm>
          <a:prstGeom prst="roundRect">
            <a:avLst>
              <a:gd name="adj" fmla="val 1978"/>
            </a:avLst>
          </a:prstGeom>
          <a:solidFill>
            <a:srgbClr val="F7E9E9"/>
          </a:solidFill>
          <a:ln/>
          <a:effectLst>
            <a:outerShdw sx="100000" sy="100000" kx="0" ky="0" algn="bl" rotWithShape="0" blurRad="127000" dist="38100" dir="5400000">
              <a:srgbClr val="1C141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116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9B2C2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20116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Monolito modular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60604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cabe en una sola tx SQL — parece más simple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patrón Saga sería un ejercicio teórico, no código real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bug de memoria puede tumbar catálogo, cupones y checkout juntos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exige replicar TODO el proceso, aunque solo el motor tenga carga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45352" y="1783080"/>
            <a:ext cx="5349240" cy="4160520"/>
          </a:xfrm>
          <a:prstGeom prst="roundRect">
            <a:avLst>
              <a:gd name="adj" fmla="val 1978"/>
            </a:avLst>
          </a:prstGeom>
          <a:solidFill>
            <a:srgbClr val="E7F3EC"/>
          </a:solidFill>
          <a:ln/>
          <a:effectLst>
            <a:outerShdw sx="100000" sy="100000" kx="0" ky="0" algn="bl" rotWithShape="0" blurRad="127000" dist="38100" dir="5400000">
              <a:srgbClr val="1C141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01384" y="20116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1F6B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01384" y="20116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Microservicios (elegido)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60604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aislamiento del motor de descuentos es de proceso, no de carpeta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Saga con compensación deja de ser documentación y pasa al MVP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servicio escala y se despliega de forma independiente en GKE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fallo en notification-service nunca bloquea el checkout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D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TECNOLÓGICAS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Frontend: ¿por qué React y no Angular?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2880360"/>
          </a:xfrm>
          <a:prstGeom prst="roundRect">
            <a:avLst>
              <a:gd name="adj" fmla="val 2857"/>
            </a:avLst>
          </a:prstGeom>
          <a:solidFill>
            <a:srgbClr val="E7F3EC"/>
          </a:solidFill>
          <a:ln/>
          <a:effectLst>
            <a:outerShdw sx="100000" sy="100000" kx="0" ky="0" algn="bl" rotWithShape="0" blurRad="127000" dist="38100" dir="5400000">
              <a:srgbClr val="1C141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93392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1F6B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199339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ELEGIDO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240280" y="196596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19 + Vite + Zustand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542032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funcionales + hooks: el estado del carrito (Zustand) es un store observable simple, sin inyección de dependencias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da HMR instantáneo — crítico iterando la UI del checkout contra un CONTRACT.md congelado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 de testing maduro (Vitest + Testing Library) para cubrir los flujos críticos del carrito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entrada más corta para un solo desarrollador construyendo 5 módulos de UI en paralelo al backend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257800" cy="2880360"/>
          </a:xfrm>
          <a:prstGeom prst="roundRect">
            <a:avLst>
              <a:gd name="adj" fmla="val 2857"/>
            </a:avLst>
          </a:prstGeom>
          <a:solidFill>
            <a:srgbClr val="F3E6D4"/>
          </a:solidFill>
          <a:ln/>
          <a:effectLst>
            <a:outerShdw sx="100000" sy="100000" kx="0" ky="0" algn="bl" rotWithShape="0" blurRad="127000" dist="38100" dir="5400000">
              <a:srgbClr val="1C141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9672" y="1993392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6D5B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19672" y="199339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DESCARTADO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092440" y="19659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3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Angular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556248" y="2542032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RxJS + inyección de dependencias son potentes, pero es sobre-ingeniería para un carrito + 3 vistas admin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Compilación AOT y CLI más pesados — no aportan valor a un frontend de esta escala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Convención más rígida de módulos/servicios cuando el verdadero límite de dominio ya lo pone el backend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aprendizaje mayor sin beneficio proporcional para este alcance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800600"/>
            <a:ext cx="10908792" cy="1600200"/>
          </a:xfrm>
          <a:prstGeom prst="roundRect">
            <a:avLst>
              <a:gd name="adj" fmla="val 5714"/>
            </a:avLst>
          </a:prstGeom>
          <a:solidFill>
            <a:srgbClr val="F3E6D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6112" y="4965192"/>
            <a:ext cx="10396728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spc="100" kern="0" dirty="0">
                <a:solidFill>
                  <a:srgbClr val="9A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/ DECISIÓN
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límite de responsabilidad real de este proyecto está en los 6 microservicios, no en el framework de UI. React + un store minimalista (Zustand) alcanza para un carrito reactivo, un panel admin con 3 vistas y un preview que se recalcula en cada tecleo — sin la sobrecarga de convención de Angular para un dominio de frontend acotado.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D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tecnológicas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TECNOLÓGICAS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Backend: ¿por qué NestJS y no otro?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2880360"/>
          </a:xfrm>
          <a:prstGeom prst="roundRect">
            <a:avLst>
              <a:gd name="adj" fmla="val 2857"/>
            </a:avLst>
          </a:prstGeom>
          <a:solidFill>
            <a:srgbClr val="E7F3EC"/>
          </a:solidFill>
          <a:ln/>
          <a:effectLst>
            <a:outerShdw sx="100000" sy="100000" kx="0" ky="0" algn="bl" rotWithShape="0" blurRad="127000" dist="38100" dir="5400000">
              <a:srgbClr val="1C141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93392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1F6B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199339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ELEGIDO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240280" y="196596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NestJS + TypeScript estricto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542032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modular por defecto: cada microservicio es un AppModule con controllers/services/guards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Decoradores (@UseGuards, @Injectable) hacen explícitos los patrones Guard, Repository e Interceptor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Swagger/OpenAPI se genera del mismo código — documentación que nunca se desincroniza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estricto comparte tipos entre los 6 servicios sin duplicar contratos a mano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257800" cy="2880360"/>
          </a:xfrm>
          <a:prstGeom prst="roundRect">
            <a:avLst>
              <a:gd name="adj" fmla="val 2857"/>
            </a:avLst>
          </a:prstGeom>
          <a:solidFill>
            <a:srgbClr val="F3E6D4"/>
          </a:solidFill>
          <a:ln/>
          <a:effectLst>
            <a:outerShdw sx="100000" sy="100000" kx="0" ky="0" algn="bl" rotWithShape="0" blurRad="127000" dist="38100" dir="5400000">
              <a:srgbClr val="1C141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9672" y="1993392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6D5B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19672" y="199339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DESCARTADO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092440" y="19659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3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 plano / Fastify a mano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556248" y="2542032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convención de módulos, 6 servicios divergen en estructura con el tiempo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Guards, pipes y DI se reimplementan a mano en cada servicio — más código, más bugs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Swagger requiere mantenimiento manual separado del código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de la inyección de dependencias es más artesanal sin el contenedor de Nest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800600"/>
            <a:ext cx="10908792" cy="1600200"/>
          </a:xfrm>
          <a:prstGeom prst="roundRect">
            <a:avLst>
              <a:gd name="adj" fmla="val 5714"/>
            </a:avLst>
          </a:prstGeom>
          <a:solidFill>
            <a:srgbClr val="F3E6D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6112" y="4965192"/>
            <a:ext cx="10396728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spc="100" kern="0" dirty="0">
                <a:solidFill>
                  <a:srgbClr val="9A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/ DECISIÓN
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6 procesos independientes, la convención importa más que la libertad. NestJS impone la misma forma (módulo → controller → service → guard) en discount-service, catalog-service, coupon-service y order-service, así que cualquiera de los dos desarrolladores de este repo puede entrar a cualquier servicio sin re-aprender su forma.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D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tecnológicas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5 · PATRÓN SAGA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Saga por orquestación, no coreografía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507742" cy="1051560"/>
          </a:xfrm>
          <a:prstGeom prst="roundRect">
            <a:avLst>
              <a:gd name="adj" fmla="val 7826"/>
            </a:avLst>
          </a:prstGeom>
          <a:solidFill>
            <a:srgbClr val="FFF8EE"/>
          </a:solidFill>
          <a:ln/>
          <a:effectLst>
            <a:outerShdw sx="100000" sy="100000" kx="0" ky="0" algn="bl" rotWithShape="0" blurRad="127000" dist="38100" dir="5400000">
              <a:srgbClr val="1C141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9808" y="2048256"/>
            <a:ext cx="22882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87168"/>
            <a:ext cx="232486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D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Reservar stock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440430" y="1920240"/>
            <a:ext cx="2507742" cy="1051560"/>
          </a:xfrm>
          <a:prstGeom prst="roundRect">
            <a:avLst>
              <a:gd name="adj" fmla="val 7826"/>
            </a:avLst>
          </a:prstGeom>
          <a:solidFill>
            <a:srgbClr val="FFF8EE"/>
          </a:solidFill>
          <a:ln/>
          <a:effectLst>
            <a:outerShdw sx="100000" sy="100000" kx="0" ky="0" algn="bl" rotWithShape="0" blurRad="127000" dist="38100" dir="5400000">
              <a:srgbClr val="1C141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50158" y="2048256"/>
            <a:ext cx="22882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531870" y="2487168"/>
            <a:ext cx="232486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D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cupón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40780" y="1920240"/>
            <a:ext cx="2507742" cy="1051560"/>
          </a:xfrm>
          <a:prstGeom prst="roundRect">
            <a:avLst>
              <a:gd name="adj" fmla="val 7826"/>
            </a:avLst>
          </a:prstGeom>
          <a:solidFill>
            <a:srgbClr val="FFF8EE"/>
          </a:solidFill>
          <a:ln/>
          <a:effectLst>
            <a:outerShdw sx="100000" sy="100000" kx="0" ky="0" algn="bl" rotWithShape="0" blurRad="127000" dist="38100" dir="5400000">
              <a:srgbClr val="1C141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50508" y="2048256"/>
            <a:ext cx="22882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332220" y="2487168"/>
            <a:ext cx="232486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D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descuento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041130" y="1920240"/>
            <a:ext cx="2507742" cy="1051560"/>
          </a:xfrm>
          <a:prstGeom prst="roundRect">
            <a:avLst>
              <a:gd name="adj" fmla="val 7826"/>
            </a:avLst>
          </a:prstGeom>
          <a:solidFill>
            <a:srgbClr val="FFF8EE"/>
          </a:solidFill>
          <a:ln/>
          <a:effectLst>
            <a:outerShdw sx="100000" sy="100000" kx="0" ky="0" algn="bl" rotWithShape="0" blurRad="127000" dist="38100" dir="5400000">
              <a:srgbClr val="1C141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150858" y="2048256"/>
            <a:ext cx="22882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9132570" y="2487168"/>
            <a:ext cx="232486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D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Persistir orden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147822" y="2446020"/>
            <a:ext cx="292608" cy="0"/>
          </a:xfrm>
          <a:prstGeom prst="line">
            <a:avLst/>
          </a:prstGeom>
          <a:noFill/>
          <a:ln w="25400">
            <a:solidFill>
              <a:srgbClr val="9A3D1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948172" y="2446020"/>
            <a:ext cx="292608" cy="0"/>
          </a:xfrm>
          <a:prstGeom prst="line">
            <a:avLst/>
          </a:prstGeom>
          <a:noFill/>
          <a:ln w="25400">
            <a:solidFill>
              <a:srgbClr val="9A3D1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748522" y="2446020"/>
            <a:ext cx="292608" cy="0"/>
          </a:xfrm>
          <a:prstGeom prst="line">
            <a:avLst/>
          </a:prstGeom>
          <a:noFill/>
          <a:ln w="25400">
            <a:solidFill>
              <a:srgbClr val="9A3D1F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640080" y="310896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D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order-service orquesta los 4 pasos — nadie más decide el orden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611880"/>
            <a:ext cx="5257800" cy="1097280"/>
          </a:xfrm>
          <a:prstGeom prst="roundRect">
            <a:avLst>
              <a:gd name="adj" fmla="val 7500"/>
            </a:avLst>
          </a:prstGeom>
          <a:solidFill>
            <a:srgbClr val="E7F3EC"/>
          </a:solidFill>
          <a:ln/>
          <a:effectLst>
            <a:outerShdw sx="100000" sy="100000" kx="0" ky="0" algn="bl" rotWithShape="0" blurRad="127000" dist="38100" dir="5400000">
              <a:srgbClr val="1C141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68680" y="37307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Orquestación (elegida)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402336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lineal de 4 pasos — un orquestador es más fácil de seguir y depurar que una cadena de eventos.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63640" y="3611880"/>
            <a:ext cx="5257800" cy="1097280"/>
          </a:xfrm>
          <a:prstGeom prst="roundRect">
            <a:avLst>
              <a:gd name="adj" fmla="val 7500"/>
            </a:avLst>
          </a:prstGeom>
          <a:solidFill>
            <a:srgbClr val="F3E6D4"/>
          </a:solidFill>
          <a:ln/>
          <a:effectLst>
            <a:outerShdw sx="100000" sy="100000" kx="0" ky="0" algn="bl" rotWithShape="0" blurRad="127000" dist="38100" dir="5400000">
              <a:srgbClr val="1C141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492240" y="37307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Coreografía (post-confirmada)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402336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reserva para DESPUÉS de OrderConfirmed: notificaciones y, a futuro, pasarela de pago externa.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4892040"/>
            <a:ext cx="10908792" cy="1508760"/>
          </a:xfrm>
          <a:prstGeom prst="roundRect">
            <a:avLst>
              <a:gd name="adj" fmla="val 6061"/>
            </a:avLst>
          </a:prstGeom>
          <a:solidFill>
            <a:srgbClr val="F3E6D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96112" y="5056632"/>
            <a:ext cx="1039672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spc="100" kern="0" dirty="0">
                <a:solidFill>
                  <a:srgbClr val="9A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/ DECISIÓN
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elige Saga por orquestación porque el flujo es lineal y de cuatro pasos: una cadena de eventos sería más difícil de seguir para el mismo resultado. Con 6 microservicios reales, la Saga dejó de ser 'documentada para el futuro' — es parte del MVP. Si algo falla tras reservar el stock, releaseStock() compensa — mismo espíritu que la idempotencia: nunca dejar el sistema en un estado a medias.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D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Resiliencia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8 · DIAGRAMA DE DESPLIEGUE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Despliegue real en GKE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0" y="1737360"/>
            <a:ext cx="3931920" cy="777240"/>
          </a:xfrm>
          <a:prstGeom prst="roundRect">
            <a:avLst>
              <a:gd name="adj" fmla="val 10588"/>
            </a:avLst>
          </a:prstGeom>
          <a:solidFill>
            <a:srgbClr val="C45C32"/>
          </a:solidFill>
          <a:ln/>
          <a:effectLst>
            <a:outerShdw sx="100000" sy="100000" kx="0" ky="0" algn="bl" rotWithShape="0" blurRad="127000" dist="38100" dir="5400000">
              <a:srgbClr val="1C141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297680" y="18745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— Service LoadBalancer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80760" y="2514600"/>
            <a:ext cx="0" cy="365760"/>
          </a:xfrm>
          <a:prstGeom prst="line">
            <a:avLst/>
          </a:prstGeom>
          <a:noFill/>
          <a:ln w="25400">
            <a:solidFill>
              <a:srgbClr val="9A3D1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40080" y="2926080"/>
            <a:ext cx="1401645" cy="1005840"/>
          </a:xfrm>
          <a:prstGeom prst="roundRect">
            <a:avLst>
              <a:gd name="adj" fmla="val 8182"/>
            </a:avLst>
          </a:prstGeom>
          <a:solidFill>
            <a:srgbClr val="FFF8EE"/>
          </a:solidFill>
          <a:ln w="12700">
            <a:solidFill>
              <a:srgbClr val="E2D0BC"/>
            </a:solidFill>
            <a:prstDash val="solid"/>
          </a:ln>
          <a:effectLst>
            <a:outerShdw sx="100000" sy="100000" kx="0" ky="0" algn="bl" rotWithShape="0" blurRad="127000" dist="38100" dir="5400000">
              <a:srgbClr val="1C141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85800" y="2926080"/>
            <a:ext cx="131020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api-gateway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29422" y="356616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1F6B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29422" y="3566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ClusterIP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224605" y="2926080"/>
            <a:ext cx="1401645" cy="1005840"/>
          </a:xfrm>
          <a:prstGeom prst="roundRect">
            <a:avLst>
              <a:gd name="adj" fmla="val 8182"/>
            </a:avLst>
          </a:prstGeom>
          <a:solidFill>
            <a:srgbClr val="FFF8EE"/>
          </a:solidFill>
          <a:ln w="12700">
            <a:solidFill>
              <a:srgbClr val="E2D0BC"/>
            </a:solidFill>
            <a:prstDash val="solid"/>
          </a:ln>
          <a:effectLst>
            <a:outerShdw sx="100000" sy="100000" kx="0" ky="0" algn="bl" rotWithShape="0" blurRad="127000" dist="38100" dir="5400000">
              <a:srgbClr val="1C141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2270325" y="2926080"/>
            <a:ext cx="131020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13947" y="356616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1F6B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513947" y="3566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ClusterIP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809129" y="2926080"/>
            <a:ext cx="1401645" cy="1005840"/>
          </a:xfrm>
          <a:prstGeom prst="roundRect">
            <a:avLst>
              <a:gd name="adj" fmla="val 8182"/>
            </a:avLst>
          </a:prstGeom>
          <a:solidFill>
            <a:srgbClr val="FFF8EE"/>
          </a:solidFill>
          <a:ln w="12700">
            <a:solidFill>
              <a:srgbClr val="E2D0BC"/>
            </a:solidFill>
            <a:prstDash val="solid"/>
          </a:ln>
          <a:effectLst>
            <a:outerShdw sx="100000" sy="100000" kx="0" ky="0" algn="bl" rotWithShape="0" blurRad="127000" dist="38100" dir="5400000">
              <a:srgbClr val="1C141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854849" y="2926080"/>
            <a:ext cx="131020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098471" y="356616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1F6B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098471" y="3566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ClusterIP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393654" y="2926080"/>
            <a:ext cx="1401645" cy="1005840"/>
          </a:xfrm>
          <a:prstGeom prst="roundRect">
            <a:avLst>
              <a:gd name="adj" fmla="val 8182"/>
            </a:avLst>
          </a:prstGeom>
          <a:solidFill>
            <a:srgbClr val="FFF8EE"/>
          </a:solidFill>
          <a:ln w="12700">
            <a:solidFill>
              <a:srgbClr val="E2D0BC"/>
            </a:solidFill>
            <a:prstDash val="solid"/>
          </a:ln>
          <a:effectLst>
            <a:outerShdw sx="100000" sy="100000" kx="0" ky="0" algn="bl" rotWithShape="0" blurRad="127000" dist="38100" dir="5400000">
              <a:srgbClr val="1C141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439374" y="2926080"/>
            <a:ext cx="131020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82996" y="356616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1F6B4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682996" y="3566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ClusterIP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978178" y="2926080"/>
            <a:ext cx="1401645" cy="1005840"/>
          </a:xfrm>
          <a:prstGeom prst="roundRect">
            <a:avLst>
              <a:gd name="adj" fmla="val 8182"/>
            </a:avLst>
          </a:prstGeom>
          <a:solidFill>
            <a:srgbClr val="FFF8EE"/>
          </a:solidFill>
          <a:ln w="12700">
            <a:solidFill>
              <a:srgbClr val="E2D0BC"/>
            </a:solidFill>
            <a:prstDash val="solid"/>
          </a:ln>
          <a:effectLst>
            <a:outerShdw sx="100000" sy="100000" kx="0" ky="0" algn="bl" rotWithShape="0" blurRad="127000" dist="38100" dir="5400000">
              <a:srgbClr val="1C141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7023898" y="2926080"/>
            <a:ext cx="131020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267521" y="356616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1F6B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267521" y="3566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ClusterIP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8562703" y="2926080"/>
            <a:ext cx="1401645" cy="1005840"/>
          </a:xfrm>
          <a:prstGeom prst="roundRect">
            <a:avLst>
              <a:gd name="adj" fmla="val 8182"/>
            </a:avLst>
          </a:prstGeom>
          <a:solidFill>
            <a:srgbClr val="FFF8EE"/>
          </a:solidFill>
          <a:ln w="12700">
            <a:solidFill>
              <a:srgbClr val="E2D0BC"/>
            </a:solidFill>
            <a:prstDash val="solid"/>
          </a:ln>
          <a:effectLst>
            <a:outerShdw sx="100000" sy="100000" kx="0" ky="0" algn="bl" rotWithShape="0" blurRad="127000" dist="38100" dir="5400000">
              <a:srgbClr val="1C1410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8608423" y="2926080"/>
            <a:ext cx="131020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852045" y="356616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1F6B4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852045" y="3566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ClusterIP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0147227" y="2926080"/>
            <a:ext cx="1401645" cy="1005840"/>
          </a:xfrm>
          <a:prstGeom prst="roundRect">
            <a:avLst>
              <a:gd name="adj" fmla="val 8182"/>
            </a:avLst>
          </a:prstGeom>
          <a:solidFill>
            <a:srgbClr val="FFF8EE"/>
          </a:solidFill>
          <a:ln w="12700">
            <a:solidFill>
              <a:srgbClr val="E2D0BC"/>
            </a:solidFill>
            <a:prstDash val="solid"/>
          </a:ln>
          <a:effectLst>
            <a:outerShdw sx="100000" sy="100000" kx="0" ky="0" algn="bl" rotWithShape="0" blurRad="127000" dist="38100" dir="5400000">
              <a:srgbClr val="1C1410">
                <a:alpha val="1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10192947" y="2926080"/>
            <a:ext cx="131020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0436570" y="356616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1F6B4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0436570" y="3566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ClusterIP</a:t>
            </a:r>
            <a:endParaRPr lang="en-US" sz="75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42976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namespace: ecommerce · GCP: round-seeker-309101 · Workload Identity Federation (sin llaves de service account)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4892040"/>
            <a:ext cx="10908792" cy="1508760"/>
          </a:xfrm>
          <a:prstGeom prst="roundRect">
            <a:avLst>
              <a:gd name="adj" fmla="val 6061"/>
            </a:avLst>
          </a:prstGeom>
          <a:solidFill>
            <a:srgbClr val="F3E6D4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96112" y="5056632"/>
            <a:ext cx="1039672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spc="100" kern="0" dirty="0">
                <a:solidFill>
                  <a:srgbClr val="9A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/ DECISIÓN
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micro es su propio Deployment + Service ClusterIP. Solo el frontend es LoadBalancer; el resto no se expone a Internet. El SDD ilustra HPA 2–6 réplicas; el clúster vivo usa 1 réplica para controlar costo en este incremento — misma topología, distinta escala. CI: lint → test ≥80% → build de 7 imágenes → apply → rollout.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D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· EVENTOS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Outbox transaccional + Redis, no RabbitMQ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507742" cy="1371600"/>
          </a:xfrm>
          <a:prstGeom prst="roundRect">
            <a:avLst>
              <a:gd name="adj" fmla="val 6000"/>
            </a:avLst>
          </a:prstGeom>
          <a:solidFill>
            <a:srgbClr val="FFF8EE"/>
          </a:solidFill>
          <a:ln/>
          <a:effectLst>
            <a:outerShdw sx="100000" sy="100000" kx="0" ky="0" algn="bl" rotWithShape="0" blurRad="127000" dist="38100" dir="5400000">
              <a:srgbClr val="1C141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91031" y="176479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C45C3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91031" y="17647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093976"/>
            <a:ext cx="22882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Persistir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32888"/>
            <a:ext cx="232486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D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+ outbox_event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D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transacción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40430" y="1965960"/>
            <a:ext cx="2507742" cy="1371600"/>
          </a:xfrm>
          <a:prstGeom prst="roundRect">
            <a:avLst>
              <a:gd name="adj" fmla="val 6000"/>
            </a:avLst>
          </a:prstGeom>
          <a:solidFill>
            <a:srgbClr val="FFF8EE"/>
          </a:solidFill>
          <a:ln/>
          <a:effectLst>
            <a:outerShdw sx="100000" sy="100000" kx="0" ky="0" algn="bl" rotWithShape="0" blurRad="127000" dist="38100" dir="5400000">
              <a:srgbClr val="1C141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91381" y="176479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6D5B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191381" y="17647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3550158" y="2093976"/>
            <a:ext cx="22882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OutboxRelay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531870" y="2532888"/>
            <a:ext cx="232486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D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 cada 2s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D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→ PUBLISHED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40780" y="1965960"/>
            <a:ext cx="2507742" cy="1371600"/>
          </a:xfrm>
          <a:prstGeom prst="roundRect">
            <a:avLst>
              <a:gd name="adj" fmla="val 6000"/>
            </a:avLst>
          </a:prstGeom>
          <a:solidFill>
            <a:srgbClr val="FFF8EE"/>
          </a:solidFill>
          <a:ln/>
          <a:effectLst>
            <a:outerShdw sx="100000" sy="100000" kx="0" ky="0" algn="bl" rotWithShape="0" blurRad="127000" dist="38100" dir="5400000">
              <a:srgbClr val="1C141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991731" y="176479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9B2C2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91731" y="17647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AT-MOST-ONCE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6350508" y="2093976"/>
            <a:ext cx="22882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Redis Pub/Sub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332220" y="2532888"/>
            <a:ext cx="232486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D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order.events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041130" y="1965960"/>
            <a:ext cx="2507742" cy="1371600"/>
          </a:xfrm>
          <a:prstGeom prst="roundRect">
            <a:avLst>
              <a:gd name="adj" fmla="val 6000"/>
            </a:avLst>
          </a:prstGeom>
          <a:solidFill>
            <a:srgbClr val="FFF8EE"/>
          </a:solidFill>
          <a:ln/>
          <a:effectLst>
            <a:outerShdw sx="100000" sy="100000" kx="0" ky="0" algn="bl" rotWithShape="0" blurRad="127000" dist="38100" dir="5400000">
              <a:srgbClr val="1C141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792081" y="176479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F6B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792081" y="17647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9150858" y="2093976"/>
            <a:ext cx="22882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notification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132570" y="2532888"/>
            <a:ext cx="232486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D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consume, notifica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147822" y="2651760"/>
            <a:ext cx="292608" cy="0"/>
          </a:xfrm>
          <a:prstGeom prst="line">
            <a:avLst/>
          </a:prstGeom>
          <a:noFill/>
          <a:ln w="25400">
            <a:solidFill>
              <a:srgbClr val="9A3D1F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948172" y="2651760"/>
            <a:ext cx="292608" cy="0"/>
          </a:xfrm>
          <a:prstGeom prst="line">
            <a:avLst/>
          </a:prstGeom>
          <a:noFill/>
          <a:ln w="25400">
            <a:solidFill>
              <a:srgbClr val="9A3D1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748522" y="2651760"/>
            <a:ext cx="292608" cy="0"/>
          </a:xfrm>
          <a:prstGeom prst="line">
            <a:avLst/>
          </a:prstGeom>
          <a:noFill/>
          <a:ln w="25400">
            <a:solidFill>
              <a:srgbClr val="9A3D1F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40080" y="3657600"/>
            <a:ext cx="10908792" cy="960120"/>
          </a:xfrm>
          <a:prstGeom prst="roundRect">
            <a:avLst>
              <a:gd name="adj" fmla="val 8571"/>
            </a:avLst>
          </a:prstGeom>
          <a:solidFill>
            <a:srgbClr val="F3E6D4"/>
          </a:solidFill>
          <a:ln/>
          <a:effectLst>
            <a:outerShdw sx="100000" sy="100000" kx="0" ky="0" algn="bl" rotWithShape="0" blurRad="127000" dist="38100" dir="5400000">
              <a:srgbClr val="1C1410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868680" y="379476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EventPublisher (interfaz) → RedisEventPublisher hoy, RabbitMqEventPublisher mañana, sin reescribir la Saga.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4892040"/>
            <a:ext cx="10908792" cy="1508760"/>
          </a:xfrm>
          <a:prstGeom prst="roundRect">
            <a:avLst>
              <a:gd name="adj" fmla="val 6061"/>
            </a:avLst>
          </a:prstGeom>
          <a:solidFill>
            <a:srgbClr val="F3E6D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96112" y="5056632"/>
            <a:ext cx="1039672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spc="100" kern="0" dirty="0">
                <a:solidFill>
                  <a:srgbClr val="9A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/ DECISIÓN
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RabbitMQ/CloudAMQP se reemplazó por Redis (ya estaba para pool/cache) + Outbox + SSE: un broker durable es infraestructura extra para un volumen mínimo. Si notification-service está caído, el mensaje se pierde para él (at-most-once) — la orden nunca se pierde, PENDING en outbox sigue siendo la fuente de verdad para reprocesar.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D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y cobertura por servicio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1280160"/>
          </a:xfrm>
          <a:prstGeom prst="roundRect">
            <a:avLst>
              <a:gd name="adj" fmla="val 6429"/>
            </a:avLst>
          </a:prstGeom>
          <a:solidFill>
            <a:srgbClr val="FFF8EE"/>
          </a:solidFill>
          <a:ln/>
          <a:effectLst>
            <a:outerShdw sx="100000" sy="100000" kx="0" ky="0" algn="bl" rotWithShape="0" blurRad="127000" dist="38100" dir="5400000">
              <a:srgbClr val="1C141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9385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5059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discount-service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2491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tests · cascada, tope 35%, reescalado proporcional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416552" y="1828800"/>
            <a:ext cx="3520440" cy="1280160"/>
          </a:xfrm>
          <a:prstGeom prst="roundRect">
            <a:avLst>
              <a:gd name="adj" fmla="val 6429"/>
            </a:avLst>
          </a:prstGeom>
          <a:solidFill>
            <a:srgbClr val="FFF8EE"/>
          </a:solidFill>
          <a:ln/>
          <a:effectLst>
            <a:outerShdw sx="100000" sy="100000" kx="0" ky="0" algn="bl" rotWithShape="0" blurRad="127000" dist="38100" dir="5400000">
              <a:srgbClr val="1C141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99432" y="19385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95%+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599432" y="245059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catalog-service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99432" y="272491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tests · reserva/liberación atómica, soft delete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193024" y="1828800"/>
            <a:ext cx="3520440" cy="1280160"/>
          </a:xfrm>
          <a:prstGeom prst="roundRect">
            <a:avLst>
              <a:gd name="adj" fmla="val 6429"/>
            </a:avLst>
          </a:prstGeom>
          <a:solidFill>
            <a:srgbClr val="FFF8EE"/>
          </a:solidFill>
          <a:ln/>
          <a:effectLst>
            <a:outerShdw sx="100000" sy="100000" kx="0" ky="0" algn="bl" rotWithShape="0" blurRad="127000" dist="38100" dir="5400000">
              <a:srgbClr val="1C141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75904" y="19385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375904" y="245059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coupon-service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375904" y="272491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tests · vigencia, NOT_FOUND vs inactivo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3291840"/>
            <a:ext cx="3520440" cy="1280160"/>
          </a:xfrm>
          <a:prstGeom prst="roundRect">
            <a:avLst>
              <a:gd name="adj" fmla="val 6429"/>
            </a:avLst>
          </a:prstGeom>
          <a:solidFill>
            <a:srgbClr val="FFF8EE"/>
          </a:solidFill>
          <a:ln/>
          <a:effectLst>
            <a:outerShdw sx="100000" sy="100000" kx="0" ky="0" algn="bl" rotWithShape="0" blurRad="127000" dist="38100" dir="5400000">
              <a:srgbClr val="1C141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2960" y="340156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39136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order-service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1879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tests · Saga + compensación + Outbox + canje único de cupón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416552" y="3291840"/>
            <a:ext cx="3520440" cy="1280160"/>
          </a:xfrm>
          <a:prstGeom prst="roundRect">
            <a:avLst>
              <a:gd name="adj" fmla="val 6429"/>
            </a:avLst>
          </a:prstGeom>
          <a:solidFill>
            <a:srgbClr val="FFF8EE"/>
          </a:solidFill>
          <a:ln/>
          <a:effectLst>
            <a:outerShdw sx="100000" sy="100000" kx="0" ky="0" algn="bl" rotWithShape="0" blurRad="127000" dist="38100" dir="5400000">
              <a:srgbClr val="1C141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599432" y="340156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4599432" y="39136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api-gateway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99432" y="41879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tests · mappers, guards, filtro de errores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193024" y="3291840"/>
            <a:ext cx="3520440" cy="1280160"/>
          </a:xfrm>
          <a:prstGeom prst="roundRect">
            <a:avLst>
              <a:gd name="adj" fmla="val 6429"/>
            </a:avLst>
          </a:prstGeom>
          <a:solidFill>
            <a:srgbClr val="FFF8EE"/>
          </a:solidFill>
          <a:ln/>
          <a:effectLst>
            <a:outerShdw sx="100000" sy="100000" kx="0" ky="0" algn="bl" rotWithShape="0" blurRad="127000" dist="38100" dir="5400000">
              <a:srgbClr val="1C141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375904" y="340156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8375904" y="39136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notification-service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375904" y="41879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tests · consumo tolerante a payload inválido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D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Patrones de diseño aplicados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FF8EE"/>
          </a:solidFill>
          <a:ln/>
          <a:effectLst>
            <a:outerShdw sx="100000" sy="100000" kx="0" ky="0" algn="bl" rotWithShape="0" blurRad="127000" dist="38100" dir="5400000">
              <a:srgbClr val="1C141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3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59152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regla de descuento (categoría/volumen/cupón) es intercambiable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16552" y="182880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3E6D4"/>
          </a:solidFill>
          <a:ln/>
          <a:effectLst>
            <a:outerShdw sx="100000" sy="100000" kx="0" ky="0" algn="bl" rotWithShape="0" blurRad="127000" dist="38100" dir="5400000">
              <a:srgbClr val="1C141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99432" y="1965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3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99432" y="2359152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DiscountStrategyFactory arma el pipeline; una 4ª regla no toca el motor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193024" y="182880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FF8EE"/>
          </a:solidFill>
          <a:ln/>
          <a:effectLst>
            <a:outerShdw sx="100000" sy="100000" kx="0" ky="0" algn="bl" rotWithShape="0" blurRad="127000" dist="38100" dir="5400000">
              <a:srgbClr val="1C141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75904" y="1965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3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Saga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375904" y="2359152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order-service orquesta reserva → cupón → cálculo → persistencia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3447288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3E6D4"/>
          </a:solidFill>
          <a:ln/>
          <a:effectLst>
            <a:outerShdw sx="100000" sy="100000" kx="0" ky="0" algn="bl" rotWithShape="0" blurRad="127000" dist="38100" dir="5400000">
              <a:srgbClr val="1C141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2960" y="358444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3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97764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queda detrás de una interfaz por servicio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16552" y="3447288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FF8EE"/>
          </a:solidFill>
          <a:ln/>
          <a:effectLst>
            <a:outerShdw sx="100000" sy="100000" kx="0" ky="0" algn="bl" rotWithShape="0" blurRad="127000" dist="38100" dir="5400000">
              <a:srgbClr val="1C141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599432" y="358444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3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Adapter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99432" y="397764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IdentityProvider / EventPublisher — cambiar de proveedor no reescribe lógica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93024" y="3447288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3E6D4"/>
          </a:solidFill>
          <a:ln/>
          <a:effectLst>
            <a:outerShdw sx="100000" sy="100000" kx="0" ky="0" algn="bl" rotWithShape="0" blurRad="127000" dist="38100" dir="5400000">
              <a:srgbClr val="1C141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375904" y="358444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3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Observer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375904" y="397764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notification-service se suscribe a order.events sin conocer a order-service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2578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D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enunciado exige un mínimo de 2 patrones — este proyecto implementa 6, todos con código real detrás.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D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CONTINUA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CI/CD: GitHub Actions + Workload Identity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947672" cy="1234440"/>
          </a:xfrm>
          <a:prstGeom prst="roundRect">
            <a:avLst>
              <a:gd name="adj" fmla="val 6667"/>
            </a:avLst>
          </a:prstGeom>
          <a:solidFill>
            <a:srgbClr val="FFF8EE"/>
          </a:solidFill>
          <a:ln/>
          <a:effectLst>
            <a:outerShdw sx="100000" sy="100000" kx="0" ky="0" algn="bl" rotWithShape="0" blurRad="127000" dist="38100" dir="5400000">
              <a:srgbClr val="1C141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9808" y="2093976"/>
            <a:ext cx="1728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Lint + build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32888"/>
            <a:ext cx="1764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D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workspaces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880360" y="1965960"/>
            <a:ext cx="1947672" cy="1234440"/>
          </a:xfrm>
          <a:prstGeom prst="roundRect">
            <a:avLst>
              <a:gd name="adj" fmla="val 6667"/>
            </a:avLst>
          </a:prstGeom>
          <a:solidFill>
            <a:srgbClr val="FFF8EE"/>
          </a:solidFill>
          <a:ln/>
          <a:effectLst>
            <a:outerShdw sx="100000" sy="100000" kx="0" ky="0" algn="bl" rotWithShape="0" blurRad="127000" dist="38100" dir="5400000">
              <a:srgbClr val="1C141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351276" y="176479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9B2C2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51276" y="17647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2990088" y="2093976"/>
            <a:ext cx="1728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≥80%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2971800" y="2532888"/>
            <a:ext cx="1764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D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obligatorio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120640" y="1965960"/>
            <a:ext cx="1947672" cy="1234440"/>
          </a:xfrm>
          <a:prstGeom prst="roundRect">
            <a:avLst>
              <a:gd name="adj" fmla="val 6667"/>
            </a:avLst>
          </a:prstGeom>
          <a:solidFill>
            <a:srgbClr val="FFF8EE"/>
          </a:solidFill>
          <a:ln/>
          <a:effectLst>
            <a:outerShdw sx="100000" sy="100000" kx="0" ky="0" algn="bl" rotWithShape="0" blurRad="127000" dist="38100" dir="5400000">
              <a:srgbClr val="1C141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591556" y="176479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C45C3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591556" y="17647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230368" y="2093976"/>
            <a:ext cx="1728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Sonar scan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212080" y="2532888"/>
            <a:ext cx="1764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D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+ cobertura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60920" y="1965960"/>
            <a:ext cx="1947672" cy="1234440"/>
          </a:xfrm>
          <a:prstGeom prst="roundRect">
            <a:avLst>
              <a:gd name="adj" fmla="val 6667"/>
            </a:avLst>
          </a:prstGeom>
          <a:solidFill>
            <a:srgbClr val="FFF8EE"/>
          </a:solidFill>
          <a:ln/>
          <a:effectLst>
            <a:outerShdw sx="100000" sy="100000" kx="0" ky="0" algn="bl" rotWithShape="0" blurRad="127000" dist="38100" dir="5400000">
              <a:srgbClr val="1C141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470648" y="2093976"/>
            <a:ext cx="1728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imágenes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452360" y="2532888"/>
            <a:ext cx="1764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D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servicios + front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601200" y="1965960"/>
            <a:ext cx="1947672" cy="1234440"/>
          </a:xfrm>
          <a:prstGeom prst="roundRect">
            <a:avLst>
              <a:gd name="adj" fmla="val 6667"/>
            </a:avLst>
          </a:prstGeom>
          <a:solidFill>
            <a:srgbClr val="E7F3EC"/>
          </a:solidFill>
          <a:ln/>
          <a:effectLst>
            <a:outerShdw sx="100000" sy="100000" kx="0" ky="0" algn="bl" rotWithShape="0" blurRad="127000" dist="38100" dir="5400000">
              <a:srgbClr val="1C141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710928" y="2093976"/>
            <a:ext cx="1728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Rollout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9692640" y="2532888"/>
            <a:ext cx="1764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D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87752" y="2583180"/>
            <a:ext cx="292608" cy="0"/>
          </a:xfrm>
          <a:prstGeom prst="line">
            <a:avLst/>
          </a:prstGeom>
          <a:noFill/>
          <a:ln w="25400">
            <a:solidFill>
              <a:srgbClr val="9A3D1F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828032" y="2583180"/>
            <a:ext cx="292608" cy="0"/>
          </a:xfrm>
          <a:prstGeom prst="line">
            <a:avLst/>
          </a:prstGeom>
          <a:noFill/>
          <a:ln w="25400">
            <a:solidFill>
              <a:srgbClr val="9A3D1F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068312" y="2583180"/>
            <a:ext cx="292608" cy="0"/>
          </a:xfrm>
          <a:prstGeom prst="line">
            <a:avLst/>
          </a:prstGeom>
          <a:noFill/>
          <a:ln w="25400">
            <a:solidFill>
              <a:srgbClr val="9A3D1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308592" y="2583180"/>
            <a:ext cx="292608" cy="0"/>
          </a:xfrm>
          <a:prstGeom prst="line">
            <a:avLst/>
          </a:prstGeom>
          <a:noFill/>
          <a:ln w="25400">
            <a:solidFill>
              <a:srgbClr val="9A3D1F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640080" y="35661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sin llaves: Workload Identity Federation entre GitHub Actions y GCP IAM.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4892040"/>
            <a:ext cx="10908792" cy="1508760"/>
          </a:xfrm>
          <a:prstGeom prst="roundRect">
            <a:avLst>
              <a:gd name="adj" fmla="val 6061"/>
            </a:avLst>
          </a:prstGeom>
          <a:solidFill>
            <a:srgbClr val="F3E6D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96112" y="5056632"/>
            <a:ext cx="1039672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spc="100" kern="0" dirty="0">
                <a:solidFill>
                  <a:srgbClr val="9A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/ DECISIÓN
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gate de cobertura ≥80% bloquea el pipeline antes de construir ninguna imagen — no se despliega código sin sus pruebas. Workload Identity Federation elimina las llaves de service account de larga vida: el runner de GitHub obtiene credenciales temporales de GCP IAM en cada corrida.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D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45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actual: no es una maqueta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10332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FFF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microservicios reales corriendo en GKE (round-seeker-309101 / us-central1)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FFF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real en Supabase — 5 schemas, triggers de auditoría activos con datos reales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FFF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React completo: catálogo, carrito, checkout, panel admin con 3 vistas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FFF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demo + Google OAuth (Supabase Auth) en paralelo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FFF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funcionando: cada push a main construye, prueba y despliega solo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5394960"/>
            <a:ext cx="10515600" cy="1005840"/>
          </a:xfrm>
          <a:prstGeom prst="roundRect">
            <a:avLst>
              <a:gd name="adj" fmla="val 8182"/>
            </a:avLst>
          </a:prstGeom>
          <a:solidFill>
            <a:srgbClr val="2A211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55321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F3E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y declarado: Row-Level Security en Supabase, HPA multi-réplica, y conectar el JWT real de Google a las rutas del checkout.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D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5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2026-09-09T13:50:16Z</dcterms:created>
  <dcterms:modified xsi:type="dcterms:W3CDTF">2026-09-09T13:50:16Z</dcterms:modified>
</cp:coreProperties>
</file>